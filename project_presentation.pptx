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 CNN</c:v>
                  </c:pt>
                  <c:pt idx="1">
                    <c:v>VGG16</c:v>
                  </c:pt>
                  <c:pt idx="2">
                    <c:v>U-Net</c:v>
                  </c:pt>
                  <c:pt idx="3">
                    <c:v>ResNet50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0.89</c:v>
                </c:pt>
                <c:pt idx="1">
                  <c:v>0.94</c:v>
                </c:pt>
                <c:pt idx="2">
                  <c:v>0.91</c:v>
                </c:pt>
                <c:pt idx="3">
                  <c:v>0.93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 CNN</c:v>
                  </c:pt>
                  <c:pt idx="1">
                    <c:v>VGG16</c:v>
                  </c:pt>
                  <c:pt idx="2">
                    <c:v>U-Net</c:v>
                  </c:pt>
                  <c:pt idx="3">
                    <c:v>ResNet50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0.88</c:v>
                </c:pt>
                <c:pt idx="1">
                  <c:v>0.92</c:v>
                </c:pt>
                <c:pt idx="2">
                  <c:v>0.89</c:v>
                </c:pt>
                <c:pt idx="3">
                  <c:v>0.91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C44E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 CNN</c:v>
                  </c:pt>
                  <c:pt idx="1">
                    <c:v>VGG16</c:v>
                  </c:pt>
                  <c:pt idx="2">
                    <c:v>U-Net</c:v>
                  </c:pt>
                  <c:pt idx="3">
                    <c:v>ResNet50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0.93</c:v>
                </c:pt>
                <c:pt idx="1">
                  <c:v>0.97</c:v>
                </c:pt>
                <c:pt idx="2">
                  <c:v>0.95</c:v>
                </c:pt>
                <c:pt idx="3">
                  <c:v>0.96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1A2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l"/>
        <c:majorGridlines>
          <c:spPr>
            <a:ln w="6350" cap="flat">
              <a:solidFill>
                <a:srgbClr val="E8DED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6B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A1A2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548640"/>
            <a:ext cx="164592" cy="164592"/>
          </a:xfrm>
          <a:prstGeom prst="ellipse">
            <a:avLst/>
          </a:prstGeom>
          <a:solidFill>
            <a:srgbClr val="ECE2D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548640"/>
            <a:ext cx="164592" cy="164592"/>
          </a:xfrm>
          <a:prstGeom prst="ellipse">
            <a:avLst/>
          </a:prstGeom>
          <a:solidFill>
            <a:srgbClr val="ECE2D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548640"/>
            <a:ext cx="164592" cy="164592"/>
          </a:xfrm>
          <a:prstGeom prst="ellipse">
            <a:avLst/>
          </a:prstGeom>
          <a:solidFill>
            <a:srgbClr val="ECE2D0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Optimized DNN for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Breast Cancer Detection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640080" y="4434840"/>
            <a:ext cx="731520" cy="54864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CNN architectures for benign vs malignant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mammogram classification on CBIS-DDSM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Jacko Upelayyan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Jordan  ·  Computer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 ·  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problem matters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8640" cy="36576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8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will develop breast cancer in her lifetime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cancers missed by initial radiologist reading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5-year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31520" y="5349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jumps from 27% (late) to 99% (early stage)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2103120"/>
            <a:ext cx="4754880" cy="402336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13" name="Shape 11"/>
          <p:cNvSpPr/>
          <p:nvPr/>
        </p:nvSpPr>
        <p:spPr>
          <a:xfrm>
            <a:off x="6766560" y="2103120"/>
            <a:ext cx="91440" cy="402336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2286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bottleneck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2697480"/>
            <a:ext cx="43891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Mammography is the screening standard, but reading is hard: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masses look like dense tissue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Radiologists fatigue from volume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can cost lives — false positives cost biopsies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pPr indent="0" marL="0">
              <a:buNone/>
            </a:pPr>
            <a:r>
              <a:rPr lang="en-US" sz="12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 a CNN that flags malignancy from a mammogram, and pick the best architecture for the job.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DNN for Early Breast Cancer Detection  ·  University of Jordan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 ·  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CBIS-DDSM — and not the alternatives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8640" cy="36576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03120"/>
            <a:ext cx="3383280" cy="365760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606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Mini-MIAS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322 images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3520440"/>
            <a:ext cx="365760" cy="2743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70332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small. Models overfit before they learn anything useful.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2103120"/>
            <a:ext cx="3383280" cy="365760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606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BreakHis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0916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~7,900 images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520440"/>
            <a:ext cx="365760" cy="2743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370332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Histopathology, not mammograms. Different problem entirely.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2103120"/>
            <a:ext cx="3383280" cy="3657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21040" y="2606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CBIS-DDSM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2104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~10,000 images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21040" y="3520440"/>
            <a:ext cx="365760" cy="27432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370332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pathology labels, the standard benchmark in published papers.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collapsed to binary: malignant vs not-malignant — the clinically meaningful question is whether a biopsy is needed.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DNN for Early Breast Cancer Detection  ·  University of Jordan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 ·  PREPROCESSING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Mammograms aren't natural images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8640" cy="36576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0312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03120"/>
            <a:ext cx="2606040" cy="7315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242316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0120" y="32004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&amp; normalize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7033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 → float [0,1] using per-image min/max. Handles scanner-to-scanner intensity variation.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02152" y="210312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2152" y="2103120"/>
            <a:ext cx="2606040" cy="7315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4" name="Shape 12"/>
          <p:cNvSpPr/>
          <p:nvPr/>
        </p:nvSpPr>
        <p:spPr>
          <a:xfrm>
            <a:off x="3730752" y="242316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3730752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730752" y="32004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Crop to breast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30752" y="37033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connected component. Removes black borders, scanner labels, edge artifacts.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72784" y="210312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2103120"/>
            <a:ext cx="2606040" cy="7315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0" name="Shape 18"/>
          <p:cNvSpPr/>
          <p:nvPr/>
        </p:nvSpPr>
        <p:spPr>
          <a:xfrm>
            <a:off x="6501384" y="242316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/>
          <p:nvPr/>
        </p:nvSpPr>
        <p:spPr>
          <a:xfrm>
            <a:off x="6501384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501384" y="32004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CLAHE enhance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01384" y="37033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Tile-based histogram equalization. Subtle masses become visible without washing out tissue.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43416" y="210312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43416" y="2103120"/>
            <a:ext cx="2606040" cy="7315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6" name="Shape 24"/>
          <p:cNvSpPr/>
          <p:nvPr/>
        </p:nvSpPr>
        <p:spPr>
          <a:xfrm>
            <a:off x="9272016" y="242316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7" name="Text 25"/>
          <p:cNvSpPr/>
          <p:nvPr/>
        </p:nvSpPr>
        <p:spPr>
          <a:xfrm>
            <a:off x="9272016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272016" y="32004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Resize + RGB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272016" y="37033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224, grayscale stacked × 3 channels. Matches ImageNet pretraining input shape.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5623560"/>
            <a:ext cx="73152" cy="64008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5669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indent="0" marL="0">
              <a:buNone/>
            </a:pPr>
            <a:r>
              <a:rPr lang="en-US" sz="13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single accuracy gain came from CLAHE + cropping — basic image processing I'd have skipped if I'd treated this as a generic CNN problem.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DNN for Early Breast Cancer Detection  ·  University of Jordan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 ·  AUGMENTATION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choices, not defaults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8640" cy="36576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03120"/>
            <a:ext cx="52120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03120"/>
            <a:ext cx="521208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76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2880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32461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 be left or right; mirror is anatomically valid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3886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rotation (±20°)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42519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patient positioning variation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25880" y="4892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brightness jitter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52578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to exposure differences across scanners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103120"/>
            <a:ext cx="52120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2103120"/>
            <a:ext cx="5212080" cy="45720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176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12280" y="2880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flip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12280" y="32461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Upside-down breasts aren't a real input — breaks anatomical orientation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12280" y="3886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rotation (±90°)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12280" y="42519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anatomically impossible views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812280" y="4892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jitter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12280" y="52578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Mammograms are grayscale — no color to jitter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DNN for Early Breast Cancer Detection  ·  University of Jordan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 ·  MODELS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architectures, four hypotheses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8640" cy="36576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03120"/>
            <a:ext cx="91440" cy="914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CNN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 ·  ~2M params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237744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ECE2D0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228600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transfer learning actually help on a small dataset?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10881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108960"/>
            <a:ext cx="91440" cy="914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VGG16 (transfer)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868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 ·  138M params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338328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ECE2D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329184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ImageNet pretraining + two-stage fine-tuning give the best gains?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10881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114800"/>
            <a:ext cx="91440" cy="914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 classifier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868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 ·  ~31M params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0" y="438912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ECE2D0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Medical-domain arch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429768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U-Net's multi-scale encoder beat generic backbones?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120640"/>
            <a:ext cx="10881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5120640"/>
            <a:ext cx="91440" cy="914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257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ResNet50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68680" y="5623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 ·  ~25M params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840480" y="539496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ECE2D0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0" y="5394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Cross-framework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0" y="530352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residual connections + a different framework change the picture?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DNN for Early Breast Cancer Detection  ·  University of Jordan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 ·  TRAINING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decisions that beat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8640" cy="36576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828800" y="21945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Class-weighted loss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606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 is the minority class. Unweighted loss converges to "always predict benign." Weighted BCE makes missing cancers more expensive than false alarms — closes about half the gap between baseline and transfer-learning models on its own.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828800" y="352044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stopping on AUC, not loss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3931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is threshold-dependent. AUC is threshold-independent and measures discrimination across all operating points. Lets clinicians pick a sensitivity/specificity trade-off afterward instead of being locked into 0.5.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7548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1828800" y="48463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Two-stage fine-tuning for VGG16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5257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freeze conv base, train classifier head. Stage 2: unfreeze the top 4 conv layers with learning rate × 0.1. Single-stage fine-tuning destroys the pretrained features with large gradients on a small dataset.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DNN for Early Breast Cancer Detection  ·  University of Jordan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  · 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accuracy alone is misleading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8640" cy="36576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03120"/>
            <a:ext cx="4754880" cy="402336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77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 accuracy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predicting "benign" every 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3703320"/>
            <a:ext cx="548640" cy="36576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840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4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Sensitivity: 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44348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clinically useless model.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metric you optimize matters more than the architecture you pick.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2103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actually report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0" y="2606040"/>
            <a:ext cx="5852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2606040"/>
            <a:ext cx="73152" cy="77724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26974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(Recall)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52160" y="30175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actual cancers, how many did we catch?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3474720"/>
            <a:ext cx="5852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0" y="3474720"/>
            <a:ext cx="73152" cy="77724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0" y="3566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52160" y="38862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benign cases, how many did we correctly clear?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4343400"/>
            <a:ext cx="5852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4343400"/>
            <a:ext cx="73152" cy="77724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0" y="44348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52160" y="47548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Threshold-independent discrimination ability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5212080"/>
            <a:ext cx="5852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0" y="5212080"/>
            <a:ext cx="73152" cy="77724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0" y="53035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52160" y="56235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rate — misleading when classes are imbalanced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DNN for Early Breast Cancer Detection  ·  University of Jordan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  · 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across all four models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8640" cy="36576"/>
          </a:xfrm>
          <a:prstGeom prst="rect">
            <a:avLst/>
          </a:prstGeom>
          <a:solidFill>
            <a:srgbClr val="C44E52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640080" y="201168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Winner: VGG16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72400" y="2560320"/>
            <a:ext cx="457200" cy="36576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0" y="27432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 accuracy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 AUC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won: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fine-tuning let it adapt to mammogram-specific features without losing ImageNet priors.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Surprises: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ResNet50 came close — the framework barely mattered. The training recipe did.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DNN for Early Breast Cancer Detection  ·  University of Jordan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 · 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actually learned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8640" cy="36576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945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 pts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beat from-scratch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0" y="2286000"/>
            <a:ext cx="27432" cy="105156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237744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pretraining gave the model a head start that thousands of mammograms alone couldn't provide.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~½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gap closed by class weights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3611880"/>
            <a:ext cx="27432" cy="105156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370332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malignant cases as equally important to benign mattered more than any architecture choice.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846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1st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40080" y="5669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prep &gt; hyperparameter tuning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0" y="4937760"/>
            <a:ext cx="27432" cy="105156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0" y="502920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single gain came from CLAHE and breast cropping — not bigger models or fancier optimizers.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DNN for Early Breast Cancer Detection  ·  University of Jordan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 ·  FUTURE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I'd do differently next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8640" cy="36576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0312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03120"/>
            <a:ext cx="73152" cy="123444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402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Patch-based training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Resizing a 4000-pixel mammogram to 224 throws away detail. Patch crops around regions of interest would preserve fine texture.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210312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2103120"/>
            <a:ext cx="73152" cy="123444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402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Multi-task with U-Net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segmentation + classification would regularize the encoder. Right now the U-Net decoder is unused.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520440"/>
            <a:ext cx="73152" cy="123444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6576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validation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02336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 INbreast or Mini-MIAS as a held-out evaluation set would strengthen the generalization claim.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352044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3520440"/>
            <a:ext cx="73152" cy="123444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6576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Probability calibration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402336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outputs aren't calibrated. Platt scaling so a "0.8" actually means 80% chance of malignancy.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937760"/>
            <a:ext cx="5349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937760"/>
            <a:ext cx="73152" cy="123444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0749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Grad-CAM explainability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8680" y="544068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showing where the model is looking. Essential before any radiologist would trust this in practice.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DNN for Early Breast Cancer Detection  ·  University of Jordan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0"/>
            <a:ext cx="109728" cy="109728"/>
          </a:xfrm>
          <a:prstGeom prst="ellipse">
            <a:avLst/>
          </a:prstGeom>
          <a:solidFill>
            <a:srgbClr val="ECE2D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5943600"/>
            <a:ext cx="109728" cy="109728"/>
          </a:xfrm>
          <a:prstGeom prst="ellipse">
            <a:avLst/>
          </a:prstGeom>
          <a:solidFill>
            <a:srgbClr val="ECE2D0">
              <a:alpha val="4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5943600"/>
            <a:ext cx="109728" cy="109728"/>
          </a:xfrm>
          <a:prstGeom prst="ellipse">
            <a:avLst/>
          </a:prstGeom>
          <a:solidFill>
            <a:srgbClr val="ECE2D0">
              <a:alpha val="3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5943600"/>
            <a:ext cx="109728" cy="109728"/>
          </a:xfrm>
          <a:prstGeom prst="ellipse">
            <a:avLst/>
          </a:prstGeom>
          <a:solidFill>
            <a:srgbClr val="ECE2D0">
              <a:alpha val="2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5943600"/>
            <a:ext cx="109728" cy="109728"/>
          </a:xfrm>
          <a:prstGeom prst="ellipse">
            <a:avLst/>
          </a:prstGeom>
          <a:solidFill>
            <a:srgbClr val="ECE2D0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77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64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731520" cy="54864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343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Jacko Upelayyan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full README:  github.com/jackoupelayyan/breast-cancer-detection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Optimized DNN for Early Breast Cancer Detection</dc:title>
  <dc:subject>PptxGenJS Presentation</dc:subject>
  <dc:creator>Jacko Upelayyan</dc:creator>
  <cp:lastModifiedBy>Jacko Upelayyan</cp:lastModifiedBy>
  <cp:revision>1</cp:revision>
  <dcterms:created xsi:type="dcterms:W3CDTF">2026-05-20T20:46:42Z</dcterms:created>
  <dcterms:modified xsi:type="dcterms:W3CDTF">2026-05-20T20:46:42Z</dcterms:modified>
</cp:coreProperties>
</file>